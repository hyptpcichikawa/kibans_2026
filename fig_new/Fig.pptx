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8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3" autoAdjust="0"/>
    <p:restoredTop sz="94675"/>
  </p:normalViewPr>
  <p:slideViewPr>
    <p:cSldViewPr snapToGrid="0">
      <p:cViewPr varScale="1">
        <p:scale>
          <a:sx n="111" d="100"/>
          <a:sy n="111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43F31-56FB-3FF7-72A6-0777F42D4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582AF1-1627-B7B2-AD06-514F59FC0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6BC9E4-4D63-DFF5-DF26-22BC016D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9C70D1-EDB9-755A-0FFD-05D96860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6A933D-90DD-6B28-41EC-CE4E4345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8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E546C-9E22-DDE0-5A1E-FF26B08C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B8E957-795B-6434-12A4-94978E426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7CB920-5A20-3DD6-BC48-2E487F01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63F686-3CA4-C390-3877-24041A17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7E4578-0EC9-91B7-5600-6BB94D32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93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B720F-B951-E4FA-D893-DD7E10CB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19DEC5-A6E7-63DE-F4B2-8627AC683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0B4F00-2441-10F4-B61F-CEEB90C4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B9FD2F-BD08-87D0-DE7E-36DF135B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6EF266-2466-31B1-7789-A7300CE9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92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E456C-3048-04EF-B666-62AE0328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63B3F-AFFB-CBCF-3BEE-81CD5B8AC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8D01F3-3127-B533-FA4C-C3F2CFE97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9B60BF-4FB3-BD8E-CD5F-4EFC03D5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1F8316-1BFB-FA97-0E59-1DD9B3FE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0BDC4C-996B-B483-62A3-E5718B0A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63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EB69A9-B935-E195-CFCC-46A7CA38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D28A65-68D5-4030-FE63-B15AF7BC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5A0E8E-4809-7AA1-7D79-ADF546520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E0FD4EA-3FF5-059B-9BB7-9E6384ED1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EE051A-A98C-10F0-0C14-328D4048D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799D66B-ADDE-FD8D-CD52-E4108FD3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DB54E5C-C8BA-2FBA-670E-81AC4EF9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602CFE-ACC5-EC03-F403-D6343762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7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F0521-A7D8-53E9-14E7-75601F4E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8816BB-FE52-5993-288E-9D4F4D11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11FEDD-1FDE-6736-E129-7872DC10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EF5BD10-5397-41F1-22CA-9F31B70E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80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F30CEC-9058-ED03-B4E4-05CAD25D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6B89E3-1F7D-342C-C6CD-52F22B99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CB130A-1FF9-B4C4-5E01-EB8FEC3F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46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D3887-9822-9054-5178-AB1A5E3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0E4196-875C-712C-B660-2512EB6E2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41FB2C-1DE0-40F2-E1FF-529DC5D33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41EB47-4913-C51B-9EC9-5991FA20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4874A3-21EA-07A0-69DB-AA3F672A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23D056-6F08-B41D-DD01-2CB9B446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341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9A99B-20A4-90D0-E0BD-527328E4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88CC77-870A-F1A7-3A4B-EB71F1A34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BD95AE-EA11-3B92-4DD7-7D6244DEF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08F53D-A25D-FC59-354B-7F703D07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031678-4D54-38AD-58F1-B055BC0B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FA1558-C3D3-762C-B19A-D94DB5C6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86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88451-2A86-F54E-0970-16A44A20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780934-B91B-D3A0-F307-EB6F78928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338DA9-CD47-EB49-C952-D18C2E9E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01783F-7473-B285-E7DB-A03FE8A7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29E16-F1BA-AFC4-E262-7850E5E7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60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7C91E16-3936-ECAA-18A6-9389C4D05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642EB2-2AB2-E954-F8E3-B10438CE8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E6FBE4-8589-B4AE-0B51-CBB665F6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2A6ED5-DCA6-2C20-AA69-79746383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E369B7-5059-D088-680D-445D8870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9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A76DB5-5FEB-53FB-499D-D6011D78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0FAE3C-E354-6B91-0F97-959A866C6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2E703-2A22-5035-E860-A55E697DB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12B83-356B-4C90-B6C1-92806F2207B4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29954-995D-9D57-C8E4-BA3344019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A44EE1-4673-33B2-6127-86FF7043A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F74CF-9910-45C9-BE25-418A64AA80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97D722-21DA-E74B-AC7F-A096B930E6FE}"/>
              </a:ext>
            </a:extLst>
          </p:cNvPr>
          <p:cNvSpPr/>
          <p:nvPr/>
        </p:nvSpPr>
        <p:spPr>
          <a:xfrm>
            <a:off x="1145894" y="3602191"/>
            <a:ext cx="9525964" cy="308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234381-F04D-A048-B83C-75035BACB187}"/>
              </a:ext>
            </a:extLst>
          </p:cNvPr>
          <p:cNvSpPr/>
          <p:nvPr/>
        </p:nvSpPr>
        <p:spPr>
          <a:xfrm>
            <a:off x="3067291" y="1003030"/>
            <a:ext cx="456042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5753BB9-7F75-3B45-540D-90CE85A232DA}"/>
              </a:ext>
            </a:extLst>
          </p:cNvPr>
          <p:cNvGrpSpPr/>
          <p:nvPr/>
        </p:nvGrpSpPr>
        <p:grpSpPr>
          <a:xfrm>
            <a:off x="3308221" y="1316647"/>
            <a:ext cx="4080134" cy="2062990"/>
            <a:chOff x="3308221" y="1316647"/>
            <a:chExt cx="4080134" cy="206299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49549772-97E1-B61E-F74B-C2C56ECBB5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30508"/>
            <a:stretch>
              <a:fillRect/>
            </a:stretch>
          </p:blipFill>
          <p:spPr bwMode="auto">
            <a:xfrm>
              <a:off x="3308221" y="1316647"/>
              <a:ext cx="1495426" cy="201024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A0A6715-F94B-E13A-1815-A83DCFD75D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30508"/>
            <a:stretch>
              <a:fillRect/>
            </a:stretch>
          </p:blipFill>
          <p:spPr bwMode="auto">
            <a:xfrm>
              <a:off x="5892929" y="1321936"/>
              <a:ext cx="1495426" cy="201024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48F90A4-3987-E3E4-286A-EDD393C01F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44" y="1602037"/>
              <a:ext cx="0" cy="1512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2312F19-9ACA-F4E9-1A42-72479C444D2E}"/>
                </a:ext>
              </a:extLst>
            </p:cNvPr>
            <p:cNvSpPr txBox="1"/>
            <p:nvPr/>
          </p:nvSpPr>
          <p:spPr>
            <a:xfrm>
              <a:off x="5697649" y="3071860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 dirty="0"/>
                <a:t>N</a:t>
              </a:r>
              <a:endParaRPr kumimoji="1" lang="ja-JP" altLang="en-US" sz="1400" b="1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F18AEB3-CAC2-7A5F-2E15-B163FD8A6E1B}"/>
                </a:ext>
              </a:extLst>
            </p:cNvPr>
            <p:cNvSpPr txBox="1"/>
            <p:nvPr/>
          </p:nvSpPr>
          <p:spPr>
            <a:xfrm>
              <a:off x="5715937" y="1383268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 dirty="0"/>
                <a:t>N</a:t>
              </a:r>
              <a:endParaRPr kumimoji="1" lang="ja-JP" altLang="en-US" sz="1400" b="1" dirty="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625D47A-A947-300D-F06E-DDBC30A7E905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>
              <a:off x="5892929" y="2327059"/>
              <a:ext cx="310896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E0E9640B-94A7-DECE-E298-D5DC908DF93D}"/>
                </a:ext>
              </a:extLst>
            </p:cNvPr>
            <p:cNvSpPr txBox="1"/>
            <p:nvPr/>
          </p:nvSpPr>
          <p:spPr>
            <a:xfrm>
              <a:off x="6203825" y="2051759"/>
              <a:ext cx="3241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 dirty="0"/>
                <a:t>N</a:t>
              </a:r>
              <a:endParaRPr kumimoji="1" lang="ja-JP" altLang="en-US" sz="1400" b="1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FFB9D0E-2FD7-BAFE-951F-6253F2DA32CF}"/>
                </a:ext>
              </a:extLst>
            </p:cNvPr>
            <p:cNvSpPr txBox="1"/>
            <p:nvPr/>
          </p:nvSpPr>
          <p:spPr>
            <a:xfrm>
              <a:off x="5518763" y="1824075"/>
              <a:ext cx="110799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200" dirty="0">
                  <a:solidFill>
                    <a:srgbClr val="FF0000"/>
                  </a:solidFill>
                </a:rPr>
                <a:t>×</a:t>
              </a:r>
              <a:endParaRPr kumimoji="1" lang="ja-JP" altLang="en-US" sz="7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1CF1E31-91E1-1AEC-856F-45F2F98F08A6}"/>
              </a:ext>
            </a:extLst>
          </p:cNvPr>
          <p:cNvGrpSpPr/>
          <p:nvPr/>
        </p:nvGrpSpPr>
        <p:grpSpPr>
          <a:xfrm>
            <a:off x="1394994" y="3853056"/>
            <a:ext cx="8929438" cy="2561590"/>
            <a:chOff x="1146745" y="3768071"/>
            <a:chExt cx="8929438" cy="2561590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E809579F-7CFC-4288-2552-F73FFBF62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745" y="4267200"/>
              <a:ext cx="3656902" cy="1774025"/>
            </a:xfrm>
            <a:prstGeom prst="rect">
              <a:avLst/>
            </a:prstGeom>
          </p:spPr>
        </p:pic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91C4EEB6-5E4B-66E6-C535-B093244FB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6143" y="3768071"/>
              <a:ext cx="5400040" cy="2561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595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054A56-5739-A247-8620-86178DCDBD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F324E30-224B-9A42-A9F0-F0D4B90FC9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/>
          <a:stretch/>
        </p:blipFill>
        <p:spPr>
          <a:xfrm>
            <a:off x="0" y="1407181"/>
            <a:ext cx="3866221" cy="295578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A43A45-0222-F444-ACD7-CD4A19A647BA}"/>
              </a:ext>
            </a:extLst>
          </p:cNvPr>
          <p:cNvSpPr txBox="1"/>
          <p:nvPr/>
        </p:nvSpPr>
        <p:spPr>
          <a:xfrm>
            <a:off x="858073" y="1091567"/>
            <a:ext cx="266515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ja-JP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Λα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: (</a:t>
            </a:r>
            <a:r>
              <a:rPr lang="en-US" altLang="ja-JP" sz="2400" dirty="0" err="1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ja-JP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potential)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2AC495-3EDC-FF4A-8507-71FBA3947527}"/>
              </a:ext>
            </a:extLst>
          </p:cNvPr>
          <p:cNvSpPr txBox="1"/>
          <p:nvPr/>
        </p:nvSpPr>
        <p:spPr>
          <a:xfrm rot="20191267">
            <a:off x="718394" y="3161491"/>
            <a:ext cx="2869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1" dirty="0">
                <a:solidFill>
                  <a:srgbClr val="FF0000"/>
                </a:solidFill>
              </a:rPr>
              <a:t>Constraint by </a:t>
            </a:r>
            <a:r>
              <a:rPr kumimoji="1" lang="en-US" altLang="ja-JP" sz="2400" b="1" baseline="30000" dirty="0">
                <a:solidFill>
                  <a:srgbClr val="FF0000"/>
                </a:solidFill>
              </a:rPr>
              <a:t>5</a:t>
            </a:r>
            <a:r>
              <a:rPr kumimoji="1" lang="en-US" altLang="ja-JP" sz="2400" b="1" baseline="-25000" dirty="0">
                <a:solidFill>
                  <a:srgbClr val="FF0000"/>
                </a:solidFill>
              </a:rPr>
              <a:t>Λ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He</a:t>
            </a:r>
            <a:endParaRPr kumimoji="1" lang="ja-JP" altLang="en-US" sz="2400" b="1">
              <a:solidFill>
                <a:srgbClr val="FF0000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DF28368-8837-224E-BB7E-54F8CD957157}"/>
              </a:ext>
            </a:extLst>
          </p:cNvPr>
          <p:cNvGrpSpPr/>
          <p:nvPr/>
        </p:nvGrpSpPr>
        <p:grpSpPr>
          <a:xfrm>
            <a:off x="189565" y="4101715"/>
            <a:ext cx="3866221" cy="2449902"/>
            <a:chOff x="450825" y="4304911"/>
            <a:chExt cx="3247505" cy="1974141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1EA2C1DE-B05E-EE44-8267-3FAC2C015A36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7" t="52020" r="75437" b="14311"/>
            <a:stretch/>
          </p:blipFill>
          <p:spPr bwMode="auto">
            <a:xfrm>
              <a:off x="618111" y="4475879"/>
              <a:ext cx="2905115" cy="18031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DCA9CEB-22DF-CE4A-B4F3-D0EF36F2DCD8}"/>
                </a:ext>
              </a:extLst>
            </p:cNvPr>
            <p:cNvSpPr/>
            <p:nvPr/>
          </p:nvSpPr>
          <p:spPr>
            <a:xfrm>
              <a:off x="450825" y="4304911"/>
              <a:ext cx="1334431" cy="41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DD79810-D26C-4645-9E6C-40CF1C49E547}"/>
                </a:ext>
              </a:extLst>
            </p:cNvPr>
            <p:cNvSpPr/>
            <p:nvPr/>
          </p:nvSpPr>
          <p:spPr>
            <a:xfrm rot="1004328">
              <a:off x="2176732" y="4498892"/>
              <a:ext cx="1521598" cy="412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7" name="図 16">
            <a:extLst>
              <a:ext uri="{FF2B5EF4-FFF2-40B4-BE49-F238E27FC236}">
                <a16:creationId xmlns:a16="http://schemas.microsoft.com/office/drawing/2014/main" id="{4CC56A4C-6B0E-BD45-B55C-01CE692CBE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814"/>
          <a:stretch/>
        </p:blipFill>
        <p:spPr>
          <a:xfrm>
            <a:off x="4978399" y="1027487"/>
            <a:ext cx="3734122" cy="2934313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6FA9399-C70B-0043-9BC0-7C72E7262263}"/>
              </a:ext>
            </a:extLst>
          </p:cNvPr>
          <p:cNvCxnSpPr>
            <a:stCxn id="8" idx="0"/>
          </p:cNvCxnSpPr>
          <p:nvPr/>
        </p:nvCxnSpPr>
        <p:spPr>
          <a:xfrm flipV="1">
            <a:off x="2118022" y="3106057"/>
            <a:ext cx="3034549" cy="120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F02F657-2F2A-264B-9E8D-77A498D8D6D9}"/>
              </a:ext>
            </a:extLst>
          </p:cNvPr>
          <p:cNvSpPr txBox="1"/>
          <p:nvPr/>
        </p:nvSpPr>
        <p:spPr>
          <a:xfrm>
            <a:off x="5817172" y="849569"/>
            <a:ext cx="238879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ja-JP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Λα</a:t>
            </a:r>
            <a:r>
              <a:rPr lang="ja-JP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　</a:t>
            </a:r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(R = 1 </a:t>
            </a:r>
            <a:r>
              <a:rPr lang="en-US" altLang="ja-JP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A0D10FC0-58B2-294B-8503-BF9573522EE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4" r="33700" b="3765"/>
          <a:stretch/>
        </p:blipFill>
        <p:spPr>
          <a:xfrm>
            <a:off x="4960620" y="4052680"/>
            <a:ext cx="3817619" cy="282382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2F50C3F-97A2-9547-B458-57B5FABB85C7}"/>
              </a:ext>
            </a:extLst>
          </p:cNvPr>
          <p:cNvSpPr txBox="1"/>
          <p:nvPr/>
        </p:nvSpPr>
        <p:spPr>
          <a:xfrm>
            <a:off x="5755202" y="3895993"/>
            <a:ext cx="242040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ja-JP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Λα</a:t>
            </a:r>
            <a:r>
              <a:rPr lang="ja-JP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　</a:t>
            </a:r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(R = 3 </a:t>
            </a:r>
            <a:r>
              <a:rPr lang="en-US" altLang="ja-JP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r>
              <a:rPr lang="en-US" altLang="ja-JP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ja-JP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FE03F0C-7633-4648-956B-5EF3A751832B}"/>
              </a:ext>
            </a:extLst>
          </p:cNvPr>
          <p:cNvCxnSpPr>
            <a:cxnSpLocks/>
          </p:cNvCxnSpPr>
          <p:nvPr/>
        </p:nvCxnSpPr>
        <p:spPr>
          <a:xfrm>
            <a:off x="2152985" y="4338427"/>
            <a:ext cx="2999586" cy="76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E96D769-E4D0-7E4F-8D71-CCBD83D5955B}"/>
              </a:ext>
            </a:extLst>
          </p:cNvPr>
          <p:cNvSpPr txBox="1"/>
          <p:nvPr/>
        </p:nvSpPr>
        <p:spPr>
          <a:xfrm rot="20228707">
            <a:off x="2911067" y="3472407"/>
            <a:ext cx="2439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Small source</a:t>
            </a:r>
            <a:endParaRPr kumimoji="1" lang="ja-JP" altLang="en-US" sz="2800" b="1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96A5E2E-3DD8-1047-B597-78B26605C2F9}"/>
              </a:ext>
            </a:extLst>
          </p:cNvPr>
          <p:cNvSpPr txBox="1"/>
          <p:nvPr/>
        </p:nvSpPr>
        <p:spPr>
          <a:xfrm rot="863723">
            <a:off x="2667163" y="4743935"/>
            <a:ext cx="2472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Large</a:t>
            </a:r>
            <a:r>
              <a:rPr kumimoji="1" lang="en-US" altLang="ja-JP" sz="2800" b="1" dirty="0"/>
              <a:t> source</a:t>
            </a:r>
            <a:endParaRPr kumimoji="1" lang="ja-JP" altLang="en-US" sz="2800" b="1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EB9A2EA-E9D0-F94B-8BCA-19578053E397}"/>
              </a:ext>
            </a:extLst>
          </p:cNvPr>
          <p:cNvSpPr txBox="1"/>
          <p:nvPr/>
        </p:nvSpPr>
        <p:spPr>
          <a:xfrm rot="20332948">
            <a:off x="5412214" y="2556567"/>
            <a:ext cx="2465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rgbClr val="FF0000"/>
                </a:solidFill>
              </a:rPr>
              <a:t>Large difference !!</a:t>
            </a:r>
          </a:p>
          <a:p>
            <a:pPr algn="ctr"/>
            <a:r>
              <a:rPr lang="en-US" altLang="ja-JP" sz="2000" b="1" dirty="0">
                <a:solidFill>
                  <a:srgbClr val="FF0000"/>
                </a:solidFill>
              </a:rPr>
              <a:t>(</a:t>
            </a:r>
            <a:r>
              <a:rPr lang="ja-JP" altLang="en-US" sz="2000" b="1" dirty="0">
                <a:solidFill>
                  <a:srgbClr val="FF0000"/>
                </a:solidFill>
              </a:rPr>
              <a:t>短距離力</a:t>
            </a:r>
            <a:r>
              <a:rPr lang="en-US" altLang="ja-JP" sz="2000" b="1" dirty="0">
                <a:solidFill>
                  <a:srgbClr val="FF0000"/>
                </a:solidFill>
              </a:rPr>
              <a:t>)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4A60EC8-9DB3-E64D-8A13-6A20E4E971D0}"/>
              </a:ext>
            </a:extLst>
          </p:cNvPr>
          <p:cNvSpPr txBox="1"/>
          <p:nvPr/>
        </p:nvSpPr>
        <p:spPr>
          <a:xfrm rot="20332948">
            <a:off x="5339962" y="5491958"/>
            <a:ext cx="237238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rgbClr val="0070C0"/>
                </a:solidFill>
              </a:rPr>
              <a:t>Almost same</a:t>
            </a:r>
          </a:p>
          <a:p>
            <a:pPr algn="ctr"/>
            <a:r>
              <a:rPr lang="en-US" altLang="ja-JP" b="1" dirty="0">
                <a:solidFill>
                  <a:srgbClr val="0070C0"/>
                </a:solidFill>
              </a:rPr>
              <a:t>(</a:t>
            </a:r>
            <a:r>
              <a:rPr lang="en-US" altLang="ja-JP" b="1" i="1" dirty="0">
                <a:solidFill>
                  <a:srgbClr val="0070C0"/>
                </a:solidFill>
              </a:rPr>
              <a:t>Constraint by </a:t>
            </a:r>
            <a:r>
              <a:rPr lang="en-US" altLang="ja-JP" b="1" baseline="30000" dirty="0">
                <a:solidFill>
                  <a:srgbClr val="0070C0"/>
                </a:solidFill>
              </a:rPr>
              <a:t>5</a:t>
            </a:r>
            <a:r>
              <a:rPr lang="en-US" altLang="ja-JP" b="1" baseline="-25000" dirty="0">
                <a:solidFill>
                  <a:srgbClr val="0070C0"/>
                </a:solidFill>
              </a:rPr>
              <a:t>Λ</a:t>
            </a:r>
            <a:r>
              <a:rPr lang="en-US" altLang="ja-JP" b="1" dirty="0">
                <a:solidFill>
                  <a:srgbClr val="0070C0"/>
                </a:solidFill>
              </a:rPr>
              <a:t>He)</a:t>
            </a:r>
            <a:endParaRPr kumimoji="1" lang="ja-JP" altLang="en-US" b="1" dirty="0">
              <a:solidFill>
                <a:srgbClr val="0070C0"/>
              </a:solidFill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3A16DCFA-B79E-5747-B041-760D780A3991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69" t="41937" b="30547"/>
          <a:stretch/>
        </p:blipFill>
        <p:spPr bwMode="auto">
          <a:xfrm>
            <a:off x="8949729" y="2432555"/>
            <a:ext cx="3153059" cy="162923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2374C93-E720-F64C-8F19-4B86980165A5}"/>
              </a:ext>
            </a:extLst>
          </p:cNvPr>
          <p:cNvSpPr txBox="1"/>
          <p:nvPr/>
        </p:nvSpPr>
        <p:spPr>
          <a:xfrm>
            <a:off x="10896136" y="1848312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>
                <a:solidFill>
                  <a:srgbClr val="FF0000"/>
                </a:solidFill>
              </a:rPr>
              <a:t>ΛN</a:t>
            </a:r>
          </a:p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短距離力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AF93D4D-5EF5-9C45-9C52-3B31C0F2C0CC}"/>
              </a:ext>
            </a:extLst>
          </p:cNvPr>
          <p:cNvSpPr txBox="1"/>
          <p:nvPr/>
        </p:nvSpPr>
        <p:spPr>
          <a:xfrm>
            <a:off x="8879894" y="1853310"/>
            <a:ext cx="1579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FF0000"/>
                </a:solidFill>
              </a:rPr>
              <a:t>高密度化での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pPr algn="ctr"/>
            <a:r>
              <a:rPr lang="en-US" altLang="ja-JP" b="1" dirty="0">
                <a:solidFill>
                  <a:srgbClr val="FF0000"/>
                </a:solidFill>
              </a:rPr>
              <a:t>ΛN</a:t>
            </a:r>
            <a:r>
              <a:rPr lang="ja-JP" altLang="en-US" b="1">
                <a:solidFill>
                  <a:srgbClr val="FF0000"/>
                </a:solidFill>
              </a:rPr>
              <a:t>相互作用</a:t>
            </a:r>
            <a:endParaRPr kumimoji="1" lang="ja-JP" altLang="en-US" b="1">
              <a:solidFill>
                <a:srgbClr val="FF0000"/>
              </a:solidFill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9B79C81-F71C-1143-BC8D-F020C1B903E4}"/>
              </a:ext>
            </a:extLst>
          </p:cNvPr>
          <p:cNvCxnSpPr>
            <a:cxnSpLocks/>
          </p:cNvCxnSpPr>
          <p:nvPr/>
        </p:nvCxnSpPr>
        <p:spPr>
          <a:xfrm>
            <a:off x="8404016" y="2423443"/>
            <a:ext cx="1289587" cy="655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75E9D12-4C7D-824D-9F55-4E2AD70305A7}"/>
              </a:ext>
            </a:extLst>
          </p:cNvPr>
          <p:cNvCxnSpPr>
            <a:cxnSpLocks/>
          </p:cNvCxnSpPr>
          <p:nvPr/>
        </p:nvCxnSpPr>
        <p:spPr>
          <a:xfrm>
            <a:off x="8404016" y="2418041"/>
            <a:ext cx="2579174" cy="461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C06F2A-E715-3D4B-8BA5-A40361E7224F}"/>
              </a:ext>
            </a:extLst>
          </p:cNvPr>
          <p:cNvSpPr txBox="1"/>
          <p:nvPr/>
        </p:nvSpPr>
        <p:spPr>
          <a:xfrm>
            <a:off x="8883926" y="5189359"/>
            <a:ext cx="3118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rgbClr val="00B050"/>
                </a:solidFill>
              </a:rPr>
              <a:t>HYPS / J-PARC E86</a:t>
            </a:r>
          </a:p>
          <a:p>
            <a:pPr algn="ctr"/>
            <a:r>
              <a:rPr lang="en-US" altLang="ja-JP" sz="2400" b="1" dirty="0" err="1">
                <a:solidFill>
                  <a:srgbClr val="00B050"/>
                </a:solidFill>
              </a:rPr>
              <a:t>Λp</a:t>
            </a:r>
            <a:r>
              <a:rPr lang="ja-JP" altLang="en-US" sz="2400" b="1" dirty="0">
                <a:solidFill>
                  <a:srgbClr val="00B050"/>
                </a:solidFill>
              </a:rPr>
              <a:t>散乱</a:t>
            </a:r>
            <a:r>
              <a:rPr lang="en-US" altLang="ja-JP" sz="2400" b="1" dirty="0">
                <a:solidFill>
                  <a:srgbClr val="00B050"/>
                </a:solidFill>
              </a:rPr>
              <a:t> </a:t>
            </a:r>
          </a:p>
          <a:p>
            <a:pPr algn="ctr"/>
            <a:r>
              <a:rPr kumimoji="1" lang="en-US" altLang="ja-JP" sz="2400" b="1" dirty="0">
                <a:solidFill>
                  <a:srgbClr val="00B050"/>
                </a:solidFill>
              </a:rPr>
              <a:t>at p = 0.4 – 0.8 GeV/c</a:t>
            </a:r>
            <a:endParaRPr kumimoji="1" lang="ja-JP" altLang="en-US" sz="2400" b="1" dirty="0">
              <a:solidFill>
                <a:srgbClr val="00B050"/>
              </a:solidFill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4D839CBB-1C79-284B-A3E3-7D6A181702F2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0443007" y="3685456"/>
            <a:ext cx="892650" cy="1503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1C0E602-CF62-F34F-960E-F61C1D5E5CD3}"/>
              </a:ext>
            </a:extLst>
          </p:cNvPr>
          <p:cNvSpPr txBox="1"/>
          <p:nvPr/>
        </p:nvSpPr>
        <p:spPr>
          <a:xfrm>
            <a:off x="8945001" y="961820"/>
            <a:ext cx="2969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i="1" dirty="0">
                <a:solidFill>
                  <a:srgbClr val="00B0F0"/>
                </a:solidFill>
              </a:rPr>
              <a:t>ハイペロンパズルを</a:t>
            </a:r>
            <a:endParaRPr lang="en-US" altLang="ja-JP" sz="2400" b="1" i="1" dirty="0">
              <a:solidFill>
                <a:srgbClr val="00B0F0"/>
              </a:solidFill>
            </a:endParaRPr>
          </a:p>
          <a:p>
            <a:pPr algn="ctr"/>
            <a:r>
              <a:rPr kumimoji="1" lang="ja-JP" altLang="en-US" sz="2400" b="1" i="1" dirty="0">
                <a:solidFill>
                  <a:srgbClr val="00B0F0"/>
                </a:solidFill>
              </a:rPr>
              <a:t>解く鍵</a:t>
            </a:r>
          </a:p>
        </p:txBody>
      </p:sp>
      <p:sp>
        <p:nvSpPr>
          <p:cNvPr id="32" name="タイトル 1">
            <a:extLst>
              <a:ext uri="{FF2B5EF4-FFF2-40B4-BE49-F238E27FC236}">
                <a16:creationId xmlns:a16="http://schemas.microsoft.com/office/drawing/2014/main" id="{C1F4CEC7-8122-7644-BB9A-63D7F7F66A68}"/>
              </a:ext>
            </a:extLst>
          </p:cNvPr>
          <p:cNvSpPr txBox="1">
            <a:spLocks/>
          </p:cNvSpPr>
          <p:nvPr/>
        </p:nvSpPr>
        <p:spPr>
          <a:xfrm>
            <a:off x="188685" y="219389"/>
            <a:ext cx="11814629" cy="5323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ja-JP" dirty="0"/>
              <a:t>E88</a:t>
            </a:r>
            <a:r>
              <a:rPr kumimoji="1" lang="ja-JP" altLang="en-US"/>
              <a:t>バイプロ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pA</a:t>
            </a:r>
            <a:r>
              <a:rPr kumimoji="1" lang="ja-JP" altLang="en-US"/>
              <a:t>衝突による</a:t>
            </a:r>
            <a:r>
              <a:rPr kumimoji="1" lang="en-US" altLang="ja-JP" dirty="0">
                <a:solidFill>
                  <a:srgbClr val="FF0000"/>
                </a:solidFill>
              </a:rPr>
              <a:t>α</a:t>
            </a:r>
            <a:r>
              <a:rPr kumimoji="1" lang="en-US" altLang="ja-JP" dirty="0" err="1">
                <a:solidFill>
                  <a:srgbClr val="FF0000"/>
                </a:solidFill>
              </a:rPr>
              <a:t>Λ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Femtoscopy</a:t>
            </a:r>
            <a:endParaRPr kumimoji="1" lang="ja-JP" altLang="en-US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A17790AC-D37B-0A93-1748-E2C93572159E}"/>
              </a:ext>
            </a:extLst>
          </p:cNvPr>
          <p:cNvSpPr/>
          <p:nvPr/>
        </p:nvSpPr>
        <p:spPr>
          <a:xfrm>
            <a:off x="439750" y="1577538"/>
            <a:ext cx="742710" cy="23472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8E0B085-1BEA-42E2-BD1E-5ED0C0096B73}"/>
              </a:ext>
            </a:extLst>
          </p:cNvPr>
          <p:cNvSpPr/>
          <p:nvPr/>
        </p:nvSpPr>
        <p:spPr>
          <a:xfrm>
            <a:off x="5356615" y="1263767"/>
            <a:ext cx="2370811" cy="10210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91BE042-6E0A-B7CC-C728-CAB7108B3560}"/>
              </a:ext>
            </a:extLst>
          </p:cNvPr>
          <p:cNvSpPr txBox="1"/>
          <p:nvPr/>
        </p:nvSpPr>
        <p:spPr>
          <a:xfrm rot="21141440">
            <a:off x="3476977" y="940309"/>
            <a:ext cx="1800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 i="1" dirty="0">
                <a:solidFill>
                  <a:srgbClr val="FF0000"/>
                </a:solidFill>
              </a:rPr>
              <a:t>αΛ</a:t>
            </a:r>
            <a:br>
              <a:rPr kumimoji="1" lang="en-US" altLang="ja-JP" b="1" i="1" dirty="0">
                <a:solidFill>
                  <a:srgbClr val="FF0000"/>
                </a:solidFill>
              </a:rPr>
            </a:br>
            <a:r>
              <a:rPr lang="ja-JP" altLang="en-US" b="1" i="1" dirty="0">
                <a:solidFill>
                  <a:srgbClr val="FF0000"/>
                </a:solidFill>
              </a:rPr>
              <a:t>ポテンシャルの</a:t>
            </a:r>
            <a:endParaRPr lang="en-US" altLang="ja-JP" b="1" i="1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b="1" i="1" dirty="0">
                <a:solidFill>
                  <a:srgbClr val="FF0000"/>
                </a:solidFill>
              </a:rPr>
              <a:t>短距離成分に</a:t>
            </a:r>
            <a:endParaRPr kumimoji="1" lang="en-US" altLang="ja-JP" b="1" i="1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b="1" i="1" dirty="0">
                <a:solidFill>
                  <a:srgbClr val="FF0000"/>
                </a:solidFill>
              </a:rPr>
              <a:t>敏感！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01BBB2D-2B5E-3A2D-43F7-351808209ED2}"/>
              </a:ext>
            </a:extLst>
          </p:cNvPr>
          <p:cNvCxnSpPr>
            <a:cxnSpLocks/>
          </p:cNvCxnSpPr>
          <p:nvPr/>
        </p:nvCxnSpPr>
        <p:spPr>
          <a:xfrm flipV="1">
            <a:off x="1296365" y="1925436"/>
            <a:ext cx="4001282" cy="56920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7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69</Words>
  <Application>Microsoft Macintosh PowerPoint</Application>
  <PresentationFormat>ワイド画面</PresentationFormat>
  <Paragraphs>27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裕大 市川</dc:creator>
  <cp:lastModifiedBy>Y. Ichikawa</cp:lastModifiedBy>
  <cp:revision>4</cp:revision>
  <dcterms:created xsi:type="dcterms:W3CDTF">2026-05-14T09:23:58Z</dcterms:created>
  <dcterms:modified xsi:type="dcterms:W3CDTF">2026-05-25T02:15:39Z</dcterms:modified>
</cp:coreProperties>
</file>